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Lexend"/>
      <p:regular r:id="rId201314"/>
    </p:embeddedFont>
    <p:embeddedFont>
      <p:font typeface="Lexend SemiBold"/>
      <p:regular r:id="rId201315"/>
    </p:embeddedFont>
    <p:embeddedFont>
      <p:font typeface="Lexend Bold"/>
      <p:regular r:id="rId201316"/>
    </p:embeddedFont>
    <p:embeddedFont>
      <p:font typeface="Martian Mono Medium"/>
      <p:regular r:id="rId201317"/>
    </p:embeddedFont>
    <p:embeddedFont>
      <p:font typeface="Syne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328"/>
          </a:solidFill>
          <a:ln/>
        </p:spPr>
      </p:sp>
      <p:pic>
        <p:nvPicPr>
          <p:cNvPr id="5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isco.com/c/es_mx/support/docs/smb/routers/cisco-rv-series-small-business-routers/1778-tz-VLAN-Best-Practices-and-Security-Tips-for-Cisco-Business-Routers.html" TargetMode="External"/><Relationship Id="rId2" Type="http://schemas.openxmlformats.org/officeDocument/2006/relationships/hyperlink" Target="https://www.cisco.com/c/es_mx/support/docs/smb/routers/cisco-rv-series-small-business-routers/1778-tz-VLAN-Best-Practices-and-Security-Tips-for-Cisco-Business-Routers.html" TargetMode="External"/><Relationship Id="rId3" Type="http://schemas.openxmlformats.org/officeDocument/2006/relationships/hyperlink" Target="https://www.layer23-switch.com/blog/how-to-configure-vlan-cisco-switch.html" TargetMode="External"/><Relationship Id="rId4" Type="http://schemas.openxmlformats.org/officeDocument/2006/relationships/hyperlink" Target="https://learn.microsoft.com/en-us/iis/web-hosting/configuring-servers-in-the-windows-web-platform/configuring-share-and-ntfs-permissions" TargetMode="External"/><Relationship Id="rId5" Type="http://schemas.openxmlformats.org/officeDocument/2006/relationships/hyperlink" Target="https://www.nakivo.com/blog/create-file-share-windows-server/" TargetMode="External"/><Relationship Id="rId6" Type="http://schemas.openxmlformats.org/officeDocument/2006/relationships/hyperlink" Target="https://docs.rackspace.com/docs/install-and-configure-ftp-and-sftp-by-using-filezilla" TargetMode="External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2588" y="1077913"/>
            <a:ext cx="2141782" cy="32613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4984" y="1139254"/>
            <a:ext cx="2446574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82" kern="10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2º SMR · REDES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82588" y="1665030"/>
            <a:ext cx="11226519" cy="2072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spc="-80" kern="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PLAYZONE:</a:t>
            </a:r>
            <a:endParaRPr lang="en-US" sz="40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000" b="1" spc="-80" kern="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una red pensada</a:t>
            </a:r>
            <a:endParaRPr lang="en-US" sz="40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000" b="1" spc="-80" kern="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para jugar sin</a:t>
            </a:r>
            <a:endParaRPr lang="en-US" sz="40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000" b="1" spc="-80" kern="100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perder el control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82588" y="3933726"/>
            <a:ext cx="11226519" cy="1846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1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Diseño de red, servidores, seguridad, IoT y copias de seguridad.</a:t>
            </a:r>
            <a:endParaRPr lang="en-US" sz="1250" dirty="0"/>
          </a:p>
          <a:p>
            <a:pPr algn="l" indent="0" marL="0">
              <a:lnSpc>
                <a:spcPct val="112000"/>
              </a:lnSpc>
              <a:spcAft>
                <a:spcPts val="1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Rodrigo Delgado</a:t>
            </a:r>
            <a:endParaRPr lang="en-US" sz="1250" dirty="0"/>
          </a:p>
          <a:p>
            <a:pPr algn="l" indent="0" marL="0">
              <a:lnSpc>
                <a:spcPct val="112000"/>
              </a:lnSpc>
              <a:spcAft>
                <a:spcPts val="1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Fco. Javier Martínez</a:t>
            </a:r>
            <a:endParaRPr lang="en-US" sz="1250" dirty="0"/>
          </a:p>
          <a:p>
            <a:pPr algn="l" indent="0" marL="0">
              <a:lnSpc>
                <a:spcPct val="112000"/>
              </a:lnSpc>
              <a:spcAft>
                <a:spcPts val="1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Miguel Martínez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26415" cy="6858000"/>
          </a:xfrm>
          <a:prstGeom prst="rect">
            <a:avLst/>
          </a:prstGeom>
          <a:solidFill>
            <a:srgbClr val="FFC52E"/>
          </a:solidFill>
          <a:ln/>
        </p:spPr>
      </p:sp>
      <p:sp>
        <p:nvSpPr>
          <p:cNvPr id="3" name="Shape 1"/>
          <p:cNvSpPr/>
          <p:nvPr/>
        </p:nvSpPr>
        <p:spPr>
          <a:xfrm>
            <a:off x="431789" y="533400"/>
            <a:ext cx="1092073" cy="32613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4185" y="594741"/>
            <a:ext cx="139686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82" kern="100" dirty="0">
                <a:solidFill>
                  <a:srgbClr val="000000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INDICE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31789" y="977642"/>
            <a:ext cx="3362836" cy="1554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spc="-80" kern="100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Una red dividida en tres zonas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759801" y="2209304"/>
            <a:ext cx="6898507" cy="2439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Servidores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Usuarios, grupos y permisos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Seguridad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IoT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Copias de seguridad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Que hay que demostrar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Bibliografía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66458"/>
            <a:ext cx="564887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EL RETO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959147"/>
            <a:ext cx="5039293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b="1" spc="-54" kern="100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Conectar a todos</a:t>
            </a:r>
            <a:endParaRPr lang="en-US" sz="36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3600" b="1" spc="-54" kern="100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sin mezclarlo todo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3213398"/>
            <a:ext cx="1662964" cy="38100"/>
          </a:xfrm>
          <a:prstGeom prst="roundRect">
            <a:avLst>
              <a:gd name="adj" fmla="val 49999"/>
            </a:avLst>
          </a:prstGeom>
          <a:solidFill>
            <a:srgbClr val="F25A3C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499148"/>
            <a:ext cx="5039293" cy="1704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PLAYZONE necesita dar Internet a clientes y empleados sin exponer los equipos ni los archivos internos.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La solución combina red cableada, Wi-Fi separado, servidores y reglas de acceso.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552" y="0"/>
            <a:ext cx="547614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30906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b="1" spc="-54" kern="100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Una red dividida en tres zonas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09585" y="1328341"/>
            <a:ext cx="3454314" cy="2167533"/>
          </a:xfrm>
          <a:prstGeom prst="roundRect">
            <a:avLst>
              <a:gd name="adj" fmla="val 7031"/>
            </a:avLst>
          </a:prstGeom>
          <a:solidFill>
            <a:srgbClr val="FFC52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379141"/>
            <a:ext cx="431789" cy="431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8179" y="1937941"/>
            <a:ext cx="2141782" cy="326132"/>
          </a:xfrm>
          <a:prstGeom prst="roundRect">
            <a:avLst>
              <a:gd name="adj" fmla="val 49999"/>
            </a:avLst>
          </a:prstGeom>
          <a:solidFill>
            <a:srgbClr val="FCD7CF"/>
          </a:solidFill>
          <a:ln/>
        </p:spPr>
      </p:sp>
      <p:sp>
        <p:nvSpPr>
          <p:cNvPr id="6" name="Text 3"/>
          <p:cNvSpPr/>
          <p:nvPr/>
        </p:nvSpPr>
        <p:spPr>
          <a:xfrm>
            <a:off x="990575" y="1999282"/>
            <a:ext cx="2446574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82" kern="100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ADMINISTRACIÓN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38179" y="2370753"/>
            <a:ext cx="2997125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Equipos autorizados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38179" y="2846030"/>
            <a:ext cx="299712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Gestión de la infraestructura.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68691" y="1328341"/>
            <a:ext cx="3454314" cy="2167533"/>
          </a:xfrm>
          <a:prstGeom prst="roundRect">
            <a:avLst>
              <a:gd name="adj" fmla="val 7031"/>
            </a:avLst>
          </a:prstGeom>
          <a:solidFill>
            <a:srgbClr val="1E232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85" y="1379141"/>
            <a:ext cx="431789" cy="431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97285" y="1937941"/>
            <a:ext cx="1092073" cy="326132"/>
          </a:xfrm>
          <a:prstGeom prst="roundRect">
            <a:avLst>
              <a:gd name="adj" fmla="val 49999"/>
            </a:avLst>
          </a:prstGeom>
          <a:solidFill>
            <a:srgbClr val="FCD7CF"/>
          </a:solidFill>
          <a:ln/>
        </p:spPr>
      </p:sp>
      <p:sp>
        <p:nvSpPr>
          <p:cNvPr id="12" name="Text 8"/>
          <p:cNvSpPr/>
          <p:nvPr/>
        </p:nvSpPr>
        <p:spPr>
          <a:xfrm>
            <a:off x="4749681" y="1999282"/>
            <a:ext cx="139686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82" kern="100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GAMING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97285" y="2370753"/>
            <a:ext cx="2997125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12 PC gaming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597285" y="2846030"/>
            <a:ext cx="322571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Conectados por cable.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8127797" y="1328341"/>
            <a:ext cx="3454314" cy="2167533"/>
          </a:xfrm>
          <a:prstGeom prst="roundRect">
            <a:avLst>
              <a:gd name="adj" fmla="val 7031"/>
            </a:avLst>
          </a:prstGeom>
          <a:solidFill>
            <a:srgbClr val="1E232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391" y="1379141"/>
            <a:ext cx="431789" cy="4318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356391" y="1937941"/>
            <a:ext cx="1485764" cy="326132"/>
          </a:xfrm>
          <a:prstGeom prst="roundRect">
            <a:avLst>
              <a:gd name="adj" fmla="val 49999"/>
            </a:avLst>
          </a:prstGeom>
          <a:solidFill>
            <a:srgbClr val="FCD7CF"/>
          </a:solidFill>
          <a:ln/>
        </p:spPr>
      </p:sp>
      <p:sp>
        <p:nvSpPr>
          <p:cNvPr id="18" name="Text 13"/>
          <p:cNvSpPr/>
          <p:nvPr/>
        </p:nvSpPr>
        <p:spPr>
          <a:xfrm>
            <a:off x="8508787" y="1999282"/>
            <a:ext cx="179055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82" kern="100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INVITADOS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356391" y="2370753"/>
            <a:ext cx="2997125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Solo Internet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8356391" y="2846030"/>
            <a:ext cx="2997125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Clientes con acceso únicamente a Internet.</a:t>
            </a:r>
            <a:endParaRPr lang="en-US" sz="1700" dirty="0"/>
          </a:p>
        </p:txBody>
      </p:sp>
      <p:sp>
        <p:nvSpPr>
          <p:cNvPr id="21" name="Shape 16"/>
          <p:cNvSpPr/>
          <p:nvPr/>
        </p:nvSpPr>
        <p:spPr>
          <a:xfrm>
            <a:off x="609585" y="3689548"/>
            <a:ext cx="5333867" cy="2834977"/>
          </a:xfrm>
          <a:prstGeom prst="roundRect">
            <a:avLst>
              <a:gd name="adj" fmla="val 3198"/>
            </a:avLst>
          </a:prstGeom>
          <a:solidFill>
            <a:srgbClr val="F25A3C"/>
          </a:solidFill>
          <a:ln/>
        </p:spPr>
      </p:sp>
      <p:sp>
        <p:nvSpPr>
          <p:cNvPr id="22" name="Text 17"/>
          <p:cNvSpPr/>
          <p:nvPr/>
        </p:nvSpPr>
        <p:spPr>
          <a:xfrm>
            <a:off x="838179" y="3761303"/>
            <a:ext cx="4876678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VLAN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838179" y="4236581"/>
            <a:ext cx="4876678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Las VLAN separan el tráfico y reducen el riesgo de accesos no deseados. La separación real se consigue con VLAN y reglas de firewall, no solo con contraseñas diferentes.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6248244" y="3689548"/>
            <a:ext cx="5333867" cy="2834977"/>
          </a:xfrm>
          <a:prstGeom prst="roundRect">
            <a:avLst>
              <a:gd name="adj" fmla="val 3198"/>
            </a:avLst>
          </a:prstGeom>
          <a:solidFill>
            <a:srgbClr val="F25A3C"/>
          </a:solidFill>
          <a:ln/>
        </p:spPr>
      </p:sp>
      <p:sp>
        <p:nvSpPr>
          <p:cNvPr id="25" name="Text 20"/>
          <p:cNvSpPr/>
          <p:nvPr/>
        </p:nvSpPr>
        <p:spPr>
          <a:xfrm>
            <a:off x="6476838" y="3761303"/>
            <a:ext cx="4876678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Dos Wi-Fi, dos niveles de acceso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6476838" y="4231184"/>
            <a:ext cx="4876678" cy="2242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1E2328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PLAYZONE-STAFF:</a:t>
            </a:r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empleados y dispositivos autorizados; acceso a recursos internos según sus permisos.</a:t>
            </a:r>
            <a:endParaRPr lang="en-US" sz="1700" dirty="0"/>
          </a:p>
          <a:p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1E2328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PLAYZONE-GUEST:</a:t>
            </a:r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clientes y visitantes, aislados de servidores y equipos de la empresa.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648983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SERVIDORES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672"/>
            <a:ext cx="5880251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b="1" spc="-54" kern="100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Los servidores convierten la red en una herramienta de trabajo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617788"/>
            <a:ext cx="5880251" cy="2502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1E2328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FileZilla Server:</a:t>
            </a:r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comparte archivos entre empleados, guarda copias y controla el acceso mediante usuarios y contraseñas.</a:t>
            </a:r>
            <a:endParaRPr lang="en-US" sz="1700" dirty="0"/>
          </a:p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1E2328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Windows Server:</a:t>
            </a:r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centraliza carpetas compartidas y permisos de lectura, modificación y eliminación.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 acceso FTP se protegerá con FTPS para cifrar las transferencias.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6509" y="0"/>
            <a:ext cx="463518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68223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CONTROL DE ACCESO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1675"/>
            <a:ext cx="6212724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b="1" spc="-42" kern="100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Usuarios, grupos y permisos: cada persona ve solo lo que necesita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288024"/>
            <a:ext cx="621272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Los permisos se asignan preferentemente a grupos para que la administración sea más sencilla.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3080742"/>
          <a:ext cx="6212724" cy="914400"/>
        </p:xfrm>
        <a:graphic>
          <a:graphicData uri="http://schemas.openxmlformats.org/drawingml/2006/table">
            <a:tbl>
              <a:tblPr/>
              <a:tblGrid>
                <a:gridCol w="1873402"/>
                <a:gridCol w="4339323"/>
              </a:tblGrid>
              <a:tr h="7897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Administrador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Gestiona servidores, usuarios, grupos y carpetas.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97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Empleado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Trabaja con los documentos necesarios, sin administrar el sistema.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0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Cliente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E2328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Usa Internet, pero no entra en la información interna.</a:t>
                      </a:r>
                      <a:endParaRPr lang="en-US" sz="17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8983" y="0"/>
            <a:ext cx="43027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DEFENSA EN PROFUNDIDAD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672"/>
            <a:ext cx="10972526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b="1" spc="-54" kern="100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La seguridad se construye por capas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1612106"/>
            <a:ext cx="2514537" cy="3565723"/>
          </a:xfrm>
          <a:prstGeom prst="roundRect">
            <a:avLst>
              <a:gd name="adj" fmla="val 6061"/>
            </a:avLst>
          </a:prstGeom>
          <a:solidFill>
            <a:srgbClr val="FFC5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2416770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2996525"/>
            <a:ext cx="2057349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Identidad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38179" y="3471803"/>
            <a:ext cx="2057349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Contraseñas robustas y cuentas individuales.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428914" y="1612106"/>
            <a:ext cx="2514537" cy="3565723"/>
          </a:xfrm>
          <a:prstGeom prst="roundRect">
            <a:avLst>
              <a:gd name="adj" fmla="val 6061"/>
            </a:avLst>
          </a:prstGeom>
          <a:solidFill>
            <a:srgbClr val="2E9BE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9" y="2265660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509" y="2845415"/>
            <a:ext cx="2057349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Firewall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657509" y="3320693"/>
            <a:ext cx="2057349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Controla conexiones entrantes y salientes.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248244" y="1612106"/>
            <a:ext cx="2648677" cy="3565723"/>
          </a:xfrm>
          <a:prstGeom prst="roundRect">
            <a:avLst>
              <a:gd name="adj" fmla="val 5754"/>
            </a:avLst>
          </a:prstGeom>
          <a:solidFill>
            <a:srgbClr val="39B54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838" y="2265660"/>
            <a:ext cx="431789" cy="431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76838" y="2845415"/>
            <a:ext cx="2191489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Mantenimiento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476838" y="3320693"/>
            <a:ext cx="2191489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Actualizaciones, protección de servidores y revisión de registros.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9201614" y="1612106"/>
            <a:ext cx="2380496" cy="3565723"/>
          </a:xfrm>
          <a:prstGeom prst="roundRect">
            <a:avLst>
              <a:gd name="adj" fmla="val 6402"/>
            </a:avLst>
          </a:prstGeom>
          <a:solidFill>
            <a:srgbClr val="F25A3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0209" y="2098080"/>
            <a:ext cx="431789" cy="431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430209" y="2677835"/>
            <a:ext cx="1923307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Mínimo privilegio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9430209" y="3488373"/>
            <a:ext cx="1923307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Cada usuario tiene solo los permisos imprescindibles.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609585" y="5406430"/>
            <a:ext cx="10972526" cy="841970"/>
          </a:xfrm>
          <a:prstGeom prst="roundRect">
            <a:avLst>
              <a:gd name="adj" fmla="val 10769"/>
            </a:avLst>
          </a:prstGeom>
          <a:solidFill>
            <a:srgbClr val="FCD7CF"/>
          </a:solidFill>
          <a:ln/>
        </p:spPr>
      </p:sp>
      <p:sp>
        <p:nvSpPr>
          <p:cNvPr id="21" name="Text 15"/>
          <p:cNvSpPr/>
          <p:nvPr/>
        </p:nvSpPr>
        <p:spPr>
          <a:xfrm>
            <a:off x="825479" y="5681702"/>
            <a:ext cx="1115032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Una sola medida puede fallar. Varias capas hacen que el fallo sea más difícil y más visible.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1983"/>
            <a:ext cx="731501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1E2328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IOT · SALA PRIVADA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672"/>
            <a:ext cx="6705432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600" b="1" spc="-54" kern="100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Seguridad y automatización en una sala privada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623185"/>
            <a:ext cx="6705432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Un sensor de movimiento permite simular respuestas automáticas en la instalación.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3415903"/>
            <a:ext cx="6705432" cy="1262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Las luces pueden encenderse al detectar presencia y apagarse tras un periodo sin actividad.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 la sala privada, la detección puede activar una alarma cuando el sistema está armado.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4880769"/>
            <a:ext cx="731501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D6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La práctica debe demostrar ambos casos mediante una simulación y capturas.</a:t>
            </a:r>
            <a:endParaRPr lang="en-US" sz="1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394" y="0"/>
            <a:ext cx="396230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7909"/>
            <a:ext cx="4724282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800" b="1" spc="-42" kern="100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Copias de seguridad: poder volver atrás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606471"/>
            <a:ext cx="4724282" cy="335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Copias y recuperación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9585" y="2076351"/>
            <a:ext cx="4724282" cy="2881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Copia semanal de los documentos importantes.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Primera copia en un NAS y segunda copia en un disco externo.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Guardar las copias separadas de los originales y comprobarlas con pruebas de recuperación.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Demostración ideal: crear un archivo, copiarlo, eliminarlo y restaurarlo.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958259"/>
            <a:ext cx="4724282" cy="12901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7828" y="630555"/>
            <a:ext cx="4724282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328"/>
                </a:solidFill>
                <a:latin typeface="Lexend SemiBold" pitchFamily="34" charset="0"/>
                <a:ea typeface="Lexend SemiBold" pitchFamily="34" charset="-122"/>
                <a:cs typeface="Lexend SemiBold" pitchFamily="34" charset="-120"/>
              </a:rPr>
              <a:t>Qué hay que demostrar en Packet Tracer y Windows Server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857828" y="1435695"/>
            <a:ext cx="4724282" cy="2881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Separar las VLAN y probar que la red de invitados no llega a los recursos internos.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Crear los SSID, usuarios, grupos, carpetas compartidas y permisos.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Comprobar el acceso al FTP, el funcionamiento del IoT y la restauración de una copia.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Guardar capturas que conviertan la configuración en evidencias.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FFC52E"/>
          </a:solidFill>
          <a:ln/>
        </p:spPr>
      </p:sp>
      <p:sp>
        <p:nvSpPr>
          <p:cNvPr id="3" name="Shape 1"/>
          <p:cNvSpPr/>
          <p:nvPr/>
        </p:nvSpPr>
        <p:spPr>
          <a:xfrm>
            <a:off x="431789" y="533400"/>
            <a:ext cx="1092073" cy="326132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84185" y="594741"/>
            <a:ext cx="1396866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spc="82" kern="100" dirty="0">
                <a:solidFill>
                  <a:srgbClr val="000000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CIERRE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31789" y="977642"/>
            <a:ext cx="4013100" cy="1036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000" b="1" spc="-80" kern="100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Bibliografía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31789" y="2202795"/>
            <a:ext cx="4013100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 proyecto termina aquí, pero los datos del autor o del equipo los completa cada persona.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60863" y="555625"/>
            <a:ext cx="6146646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000" b="1" spc="-60" kern="100" dirty="0">
                <a:solidFill>
                  <a:srgbClr val="1E2328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Enlaces: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806235" y="1313498"/>
            <a:ext cx="580127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b="1" u="sng" dirty="0">
                <a:solidFill>
                  <a:srgbClr val="F25A3C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https://www.cisco.com/c/es_mx/support/docs/smb/routers/cisco-rv-series-small-business-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60863" y="2106216"/>
            <a:ext cx="6146646" cy="3540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u="sng" dirty="0">
                <a:solidFill>
                  <a:srgbClr val="F25A3C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routers/1778-tz-VLAN-Best-Practices-and-Security-Tips-for-Cisco-Business-Routers.html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u="sng" dirty="0">
                <a:solidFill>
                  <a:srgbClr val="F25A3C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https://www.layer23-switch.com/blog/how-to-configure-vlan-cisco-switch.html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u="sng" dirty="0">
                <a:solidFill>
                  <a:srgbClr val="F25A3C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https://learn.microsoft.com/en-us/iis/web-hosting/configuring-servers-in-the-windows-web-platform/configuring-share-and-ntfs-permissions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u="sng" dirty="0">
                <a:solidFill>
                  <a:srgbClr val="F25A3C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https://www.nakivo.com/blog/create-file-share-windows-server/</a:t>
            </a:r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1E2328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  </a:t>
            </a:r>
            <a:endParaRPr lang="en-US" sz="1700" dirty="0"/>
          </a:p>
          <a:p>
            <a:pPr algn="l" marL="345440" indent="-345440">
              <a:lnSpc>
                <a:spcPct val="117000"/>
              </a:lnSpc>
              <a:buSzPct val="100000"/>
              <a:buChar char="•"/>
            </a:pPr>
            <a:r>
              <a:rPr lang="en-US" sz="1700" b="1" u="sng" dirty="0">
                <a:solidFill>
                  <a:srgbClr val="F25A3C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https://docs.rackspace.com/docs/install-and-configure-ftp-and-sftp-by-using-filezill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25A3C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2026-10-16T17:55:37Z</dcterms:created>
  <dcterms:modified xsi:type="dcterms:W3CDTF">2026-10-16T17:55:37Z</dcterms:modified>
</cp:coreProperties>
</file>